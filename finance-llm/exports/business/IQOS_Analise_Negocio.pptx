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2DD4BF"/>
                </a:solidFill>
                <a:latin typeface="Segoe UI"/>
              </a:rPr>
              <a:t>IQ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E2E8F0"/>
                </a:solidFill>
                <a:latin typeface="Segoe UI"/>
              </a:rPr>
              <a:t>Análise de negócio: produto, mercado 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Números recolhidos da própria plataforma em execução — não de estimativas.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2560320" cy="12344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DD4BF"/>
                </a:solidFill>
              </a:rPr>
              <a:t>37 967 981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documentos indexados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3840480"/>
            <a:ext cx="2560320" cy="12344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DD4BF"/>
                </a:solidFill>
              </a:rPr>
              <a:t>5 077 363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contratos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2560320" cy="12344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DD4BF"/>
                </a:solidFill>
              </a:rPr>
              <a:t>199 mil M€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valor agregado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3840480"/>
            <a:ext cx="2560320" cy="12344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DD4BF"/>
                </a:solidFill>
              </a:rPr>
              <a:t>859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rotas de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Nota global do scorecard: 3.6/5   ·   09/10/2026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Sumário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O que o produto é, o que já vale e o que falta para vender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Pontos fortes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37 967 981 documentos</a:t>
            </a:r>
            <a:r>
              <a:rPr sz="1250" b="0">
                <a:solidFill>
                  <a:srgbClr val="E2E8F0"/>
                </a:solidFill>
                <a:latin typeface="Segoe UI"/>
              </a:rPr>
              <a:t> em 43 índices — o ativo central e a maior barreira à entrada.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859 rotas de API</a:t>
            </a:r>
            <a:r>
              <a:rPr sz="1250" b="0">
                <a:solidFill>
                  <a:srgbClr val="E2E8F0"/>
                </a:solidFill>
                <a:latin typeface="Segoe UI"/>
              </a:rPr>
              <a:t> em 39 domínios: mercados, contratos, empresas, pessoas, IA, BI, CRM, CMS e recolha.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IA com evidência citada</a:t>
            </a:r>
            <a:r>
              <a:rPr sz="1250" b="0">
                <a:solidFill>
                  <a:srgbClr val="E2E8F0"/>
                </a:solidFill>
                <a:latin typeface="Segoe UI"/>
              </a:rPr>
              <a:t> (Hermes, Researcher, ontologia anti-alucinação) — requisito em contratação pública.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Receita já instrumentada</a:t>
            </a:r>
            <a:r>
              <a:rPr sz="1250" b="0">
                <a:solidFill>
                  <a:srgbClr val="E2E8F0"/>
                </a:solidFill>
                <a:latin typeface="Segoe UI"/>
              </a:rPr>
              <a:t>: 4 relatórios pagos (0.0–130.0 €) com pagamento MB Way e loja.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Riscos a decidir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▸  </a:t>
            </a:r>
            <a:r>
              <a:rPr sz="1250" b="1">
                <a:solidFill>
                  <a:srgbClr val="FFFFFF"/>
                </a:solidFill>
                <a:latin typeface="Segoe UI"/>
              </a:rPr>
              <a:t>Concentração</a:t>
            </a:r>
            <a:r>
              <a:rPr sz="1250" b="0">
                <a:solidFill>
                  <a:srgbClr val="E2E8F0"/>
                </a:solidFill>
                <a:latin typeface="Segoe UI"/>
              </a:rPr>
              <a:t>: 91.99% das entidades são portuguesas — o mercado doméstico é pequeno para o investimento feito.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▸  </a:t>
            </a:r>
            <a:r>
              <a:rPr sz="1250" b="1">
                <a:solidFill>
                  <a:srgbClr val="FFFFFF"/>
                </a:solidFill>
                <a:latin typeface="Segoe UI"/>
              </a:rPr>
              <a:t>Elo mais fraco</a:t>
            </a:r>
            <a:r>
              <a:rPr sz="1250" b="0">
                <a:solidFill>
                  <a:srgbClr val="E2E8F0"/>
                </a:solidFill>
                <a:latin typeface="Segoe UI"/>
              </a:rPr>
              <a:t>: cobertura societária de 0.02% e 47.01% de entidades sem NIF.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▸  </a:t>
            </a:r>
            <a:r>
              <a:rPr sz="1250" b="1">
                <a:solidFill>
                  <a:srgbClr val="FFFFFF"/>
                </a:solidFill>
                <a:latin typeface="Segoe UI"/>
              </a:rPr>
              <a:t>Sem telemetria nem planos</a:t>
            </a:r>
            <a:r>
              <a:rPr sz="1250" b="0">
                <a:solidFill>
                  <a:srgbClr val="E2E8F0"/>
                </a:solidFill>
                <a:latin typeface="Segoe UI"/>
              </a:rPr>
              <a:t>: não se mede uso, retenção ou receita recorrente.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▸  </a:t>
            </a:r>
            <a:r>
              <a:rPr sz="1250" b="1">
                <a:solidFill>
                  <a:srgbClr val="FFFFFF"/>
                </a:solidFill>
                <a:latin typeface="Segoe UI"/>
              </a:rPr>
              <a:t>Dispersão</a:t>
            </a:r>
            <a:r>
              <a:rPr sz="1250" b="0">
                <a:solidFill>
                  <a:srgbClr val="E2E8F0"/>
                </a:solidFill>
                <a:latin typeface="Segoe UI"/>
              </a:rPr>
              <a:t>: 39 domínios funcionais para uma equipa pequena.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06440"/>
            <a:ext cx="11064240" cy="411480"/>
          </a:xfrm>
          <a:prstGeom prst="roundRect">
            <a:avLst/>
          </a:prstGeom>
          <a:solidFill>
            <a:srgbClr val="16223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DD4BF"/>
                </a:solidFill>
                <a:latin typeface="Segoe UI"/>
              </a:rPr>
              <a:t>Leitura: produto muito acima do que a operação comercial consegue hoje vender.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O produto em imagens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Ecrãs reais da plataforma em execução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3</a:t>
            </a:r>
          </a:p>
        </p:txBody>
      </p:sp>
      <p:pic>
        <p:nvPicPr>
          <p:cNvPr id="7" name="Picture 6" descr="02_dashboard_contr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34" y="1600200"/>
            <a:ext cx="3311090" cy="1965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13434" y="1600200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Dashboard de contratos</a:t>
            </a:r>
          </a:p>
        </p:txBody>
      </p:sp>
      <p:pic>
        <p:nvPicPr>
          <p:cNvPr id="10" name="Picture 9" descr="06_empresas_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34" y="1600200"/>
            <a:ext cx="3311090" cy="1965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28434" y="1600200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5661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EmpresasIQ — ficha e relações</a:t>
            </a:r>
          </a:p>
        </p:txBody>
      </p:sp>
      <p:pic>
        <p:nvPicPr>
          <p:cNvPr id="13" name="Picture 12" descr="09_hermes_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434" y="3977639"/>
            <a:ext cx="3311090" cy="1965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13434" y="3977639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Hermes — respostas com evidência</a:t>
            </a:r>
          </a:p>
        </p:txBody>
      </p:sp>
      <p:pic>
        <p:nvPicPr>
          <p:cNvPr id="16" name="Picture 15" descr="11_visualizador_b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434" y="3977639"/>
            <a:ext cx="3311090" cy="19659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28434" y="3977639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59436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Visualizador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O produto em imagens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Dados geográficos, pessoas, investigação e monetização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4</a:t>
            </a:r>
          </a:p>
        </p:txBody>
      </p:sp>
      <p:pic>
        <p:nvPicPr>
          <p:cNvPr id="7" name="Picture 6" descr="03_mapa_contr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34" y="1600200"/>
            <a:ext cx="3311090" cy="1965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13434" y="1600200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Mapa da contratação por região</a:t>
            </a:r>
          </a:p>
        </p:txBody>
      </p:sp>
      <p:pic>
        <p:nvPicPr>
          <p:cNvPr id="10" name="Picture 9" descr="08_pessoas_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34" y="1600200"/>
            <a:ext cx="3311090" cy="1965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28434" y="1600200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56616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PessoasIQ — pessoas e cargos</a:t>
            </a:r>
          </a:p>
        </p:txBody>
      </p:sp>
      <p:pic>
        <p:nvPicPr>
          <p:cNvPr id="13" name="Picture 12" descr="10_search3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434" y="3977639"/>
            <a:ext cx="3311090" cy="1965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13434" y="3977639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Search360 — dossiê por tema</a:t>
            </a:r>
          </a:p>
        </p:txBody>
      </p:sp>
      <p:pic>
        <p:nvPicPr>
          <p:cNvPr id="16" name="Picture 15" descr="13_relato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434" y="3977639"/>
            <a:ext cx="3311090" cy="19659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28434" y="3977639"/>
            <a:ext cx="3311090" cy="19659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59436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Relatórios pagos e pedidos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O ativo: dados que já existem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Volume, diversidade e custo de replicação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5</a:t>
            </a:r>
          </a:p>
        </p:txBody>
      </p:sp>
      <p:pic>
        <p:nvPicPr>
          <p:cNvPr id="7" name="Picture 6" descr="01_documentos_por_ind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23719"/>
            <a:ext cx="6766560" cy="375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39" y="1823719"/>
            <a:ext cx="6766560" cy="375920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6916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37 967 981 documentos</a:t>
            </a:r>
            <a:r>
              <a:rPr sz="1250" b="0">
                <a:solidFill>
                  <a:srgbClr val="E2E8F0"/>
                </a:solidFill>
                <a:latin typeface="Segoe UI"/>
              </a:rPr>
              <a:t> em 43 índices (43 com dados) e 31.38 GB.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0">
                <a:solidFill>
                  <a:srgbClr val="E2E8F0"/>
                </a:solidFill>
                <a:latin typeface="Segoe UI"/>
              </a:rPr>
              <a:t>Contratos de </a:t>
            </a:r>
            <a:r>
              <a:rPr sz="1250" b="1">
                <a:solidFill>
                  <a:srgbClr val="FFFFFF"/>
                </a:solidFill>
                <a:latin typeface="Segoe UI"/>
              </a:rPr>
              <a:t>PT, ES e FR</a:t>
            </a:r>
            <a:r>
              <a:rPr sz="1250" b="0">
                <a:solidFill>
                  <a:srgbClr val="E2E8F0"/>
                </a:solidFill>
                <a:latin typeface="Segoe UI"/>
              </a:rPr>
              <a:t> (BASE, PLACSP, DECP) mais cadastro de entidades.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Camadas de contexto</a:t>
            </a:r>
            <a:r>
              <a:rPr sz="1250" b="0">
                <a:solidFill>
                  <a:srgbClr val="E2E8F0"/>
                </a:solidFill>
                <a:latin typeface="Segoe UI"/>
              </a:rPr>
              <a:t>: 212 mil LEI, 137 mil pessoas, marcas INPI, firmas RNPC, publicações do MJ, insolvências e citações.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Sentimento e notícias</a:t>
            </a:r>
            <a:r>
              <a:rPr sz="1250" b="0">
                <a:solidFill>
                  <a:srgbClr val="E2E8F0"/>
                </a:solidFill>
                <a:latin typeface="Segoe UI"/>
              </a:rPr>
              <a:t> indexados, prontos para sinais de risco.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0">
                <a:solidFill>
                  <a:srgbClr val="E2E8F0"/>
                </a:solidFill>
                <a:latin typeface="Segoe UI"/>
              </a:rPr>
              <a:t>Replicar isto exige anos de ingestão, licenças e engenharia — é a barreira à entrada.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Mercado endereçável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Quem paga e porquê — medido a partir do próprio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6</a:t>
            </a:r>
          </a:p>
        </p:txBody>
      </p:sp>
      <p:pic>
        <p:nvPicPr>
          <p:cNvPr id="7" name="Picture 6" descr="02_entidades_por_p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57400"/>
            <a:ext cx="5852160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39" y="2057400"/>
            <a:ext cx="5852160" cy="329184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737360"/>
          <a:ext cx="50749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977"/>
                <a:gridCol w="1049983"/>
                <a:gridCol w="2624958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Segmento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Tamanho no dataset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Porque compra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Fornecedores do Estado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205 528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Achar oportunidades, preço de referência e concorrentes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Entidades públicas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12 090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Benchmark de preços e historial de fornecedores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Banca, seguros, auditoria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n/d (subconjunto)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Risco de contraparte e sinais societários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Imprensa e investigação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n/d (subconjunto)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Prova documental citável em segundos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425196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▪  </a:t>
            </a:r>
            <a:r>
              <a:rPr sz="1150" b="1">
                <a:solidFill>
                  <a:srgbClr val="FFFFFF"/>
                </a:solidFill>
                <a:latin typeface="Segoe UI"/>
              </a:rPr>
              <a:t>199 mil M€</a:t>
            </a:r>
            <a:r>
              <a:rPr sz="1150" b="0">
                <a:solidFill>
                  <a:srgbClr val="E2E8F0"/>
                </a:solidFill>
                <a:latin typeface="Segoe UI"/>
              </a:rPr>
              <a:t> adjudicados no dataset  </a:t>
            </a:r>
            <a:r>
              <a:rPr sz="1150" b="1">
                <a:solidFill>
                  <a:srgbClr val="FFFFFF"/>
                </a:solidFill>
                <a:latin typeface="Segoe UI"/>
              </a:rPr>
              <a:t>5 077 363 contratos</a:t>
            </a:r>
            <a:r>
              <a:rPr sz="1150" b="0">
                <a:solidFill>
                  <a:srgbClr val="E2E8F0"/>
                </a:solidFill>
                <a:latin typeface="Segoe UI"/>
              </a:rPr>
              <a:t>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▪  </a:t>
            </a:r>
            <a:r>
              <a:rPr sz="1150" b="0">
                <a:solidFill>
                  <a:srgbClr val="E2E8F0"/>
                </a:solidFill>
                <a:latin typeface="Segoe UI"/>
              </a:rPr>
              <a:t>Portugal concentra 91.99% das entidades; Espanha 4 389 e França 1 239 são amostras.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▪  </a:t>
            </a:r>
            <a:r>
              <a:rPr sz="1150" b="0">
                <a:solidFill>
                  <a:srgbClr val="E2E8F0"/>
                </a:solidFill>
                <a:latin typeface="Segoe UI"/>
              </a:rPr>
              <a:t>O produto já cobre os dois lados do mercado (quem compra e quem vende).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Onde a cobertura falha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O que impede vender relatórios financeiros a escala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7</a:t>
            </a:r>
          </a:p>
        </p:txBody>
      </p:sp>
      <p:pic>
        <p:nvPicPr>
          <p:cNvPr id="7" name="Picture 6" descr="03_funil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64008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057400"/>
            <a:ext cx="6400800" cy="320040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3736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47.01% das entidades não têm NIF</a:t>
            </a:r>
            <a:r>
              <a:rPr sz="1250" b="0">
                <a:solidFill>
                  <a:srgbClr val="E2E8F0"/>
                </a:solidFill>
                <a:latin typeface="Segoe UI"/>
              </a:rPr>
              <a:t> — sem a chave de junção ficam fora do grafo.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1">
                <a:solidFill>
                  <a:srgbClr val="FFFFFF"/>
                </a:solidFill>
                <a:latin typeface="Segoe UI"/>
              </a:rPr>
              <a:t>Cobertura societária de 0.02%</a:t>
            </a:r>
            <a:r>
              <a:rPr sz="1250" b="0">
                <a:solidFill>
                  <a:srgbClr val="E2E8F0"/>
                </a:solidFill>
                <a:latin typeface="Segoe UI"/>
              </a:rPr>
              <a:t>: 21 entidades recolhidas de 113 463.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0">
                <a:solidFill>
                  <a:srgbClr val="E2E8F0"/>
                </a:solidFill>
                <a:latin typeface="Segoe UI"/>
              </a:rPr>
              <a:t>O catálogo </a:t>
            </a:r>
            <a:r>
              <a:rPr sz="1250" b="1">
                <a:solidFill>
                  <a:srgbClr val="FFFFFF"/>
                </a:solidFill>
                <a:latin typeface="Segoe UI"/>
              </a:rPr>
              <a:t>promete</a:t>
            </a:r>
            <a:r>
              <a:rPr sz="1250" b="0">
                <a:solidFill>
                  <a:srgbClr val="E2E8F0"/>
                </a:solidFill>
                <a:latin typeface="Segoe UI"/>
              </a:rPr>
              <a:t> balanço, demonstrações e rácios — a matéria-prima ainda não está recolhida.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50">
                <a:solidFill>
                  <a:srgbClr val="2DD4BF"/>
                </a:solidFill>
              </a:rPr>
              <a:t>▪  </a:t>
            </a:r>
            <a:r>
              <a:rPr sz="1250" b="0">
                <a:solidFill>
                  <a:srgbClr val="E2E8F0"/>
                </a:solidFill>
                <a:latin typeface="Segoe UI"/>
              </a:rPr>
              <a:t>A recolha por NIF é o gargalo; por </a:t>
            </a:r>
            <a:r>
              <a:rPr sz="1250" b="1">
                <a:solidFill>
                  <a:srgbClr val="FFFFFF"/>
                </a:solidFill>
                <a:latin typeface="Segoe UI"/>
              </a:rPr>
              <a:t>janelas de datas</a:t>
            </a:r>
            <a:r>
              <a:rPr sz="1250" b="0">
                <a:solidFill>
                  <a:srgbClr val="E2E8F0"/>
                </a:solidFill>
                <a:latin typeface="Segoe UI"/>
              </a:rPr>
              <a:t> o país inteiro cabe em ~721 consultas.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Modelo de negócio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Como entra dinheiro hoje — e o que ainda não existe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D4BF"/>
                </a:solidFill>
                <a:latin typeface="Segoe UI"/>
              </a:rPr>
              <a:t>Proposta de 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611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0">
                <a:solidFill>
                  <a:srgbClr val="E2E8F0"/>
                </a:solidFill>
                <a:latin typeface="Segoe UI"/>
              </a:rPr>
              <a:t>Um só sítio para decidir: contratos, empresas, pessoas, risco e IA.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0">
                <a:solidFill>
                  <a:srgbClr val="E2E8F0"/>
                </a:solidFill>
                <a:latin typeface="Segoe UI"/>
              </a:rPr>
              <a:t>Respostas </a:t>
            </a:r>
            <a:r>
              <a:rPr sz="1150" b="1">
                <a:solidFill>
                  <a:srgbClr val="FFFFFF"/>
                </a:solidFill>
                <a:latin typeface="Segoe UI"/>
              </a:rPr>
              <a:t>citadas</a:t>
            </a:r>
            <a:r>
              <a:rPr sz="1150" b="0">
                <a:solidFill>
                  <a:srgbClr val="E2E8F0"/>
                </a:solidFill>
                <a:latin typeface="Segoe UI"/>
              </a:rPr>
              <a:t> em vez de pesquisa manual em 5 portais.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0">
                <a:solidFill>
                  <a:srgbClr val="E2E8F0"/>
                </a:solidFill>
                <a:latin typeface="Segoe UI"/>
              </a:rPr>
              <a:t>Monitorização contínua (agenda, RSS, alertas).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D4BF"/>
                </a:solidFill>
                <a:latin typeface="Segoe UI"/>
              </a:rPr>
              <a:t>Receita 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57400"/>
            <a:ext cx="3611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1">
                <a:solidFill>
                  <a:srgbClr val="FFFFFF"/>
                </a:solidFill>
                <a:latin typeface="Segoe UI"/>
              </a:rPr>
              <a:t>Relatórios pagos</a:t>
            </a:r>
            <a:r>
              <a:rPr sz="1150" b="0">
                <a:solidFill>
                  <a:srgbClr val="E2E8F0"/>
                </a:solidFill>
                <a:latin typeface="Segoe UI"/>
              </a:rPr>
              <a:t>: 4 pacotes, 0.0–130.0 € por pedido.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1">
                <a:solidFill>
                  <a:srgbClr val="FFFFFF"/>
                </a:solidFill>
                <a:latin typeface="Segoe UI"/>
              </a:rPr>
              <a:t>Loja</a:t>
            </a:r>
            <a:r>
              <a:rPr sz="1150" b="0">
                <a:solidFill>
                  <a:srgbClr val="E2E8F0"/>
                </a:solidFill>
                <a:latin typeface="Segoe UI"/>
              </a:rPr>
              <a:t> com produtos físicos e digitais e encomendas.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1">
                <a:solidFill>
                  <a:srgbClr val="FFFFFF"/>
                </a:solidFill>
                <a:latin typeface="Segoe UI"/>
              </a:rPr>
              <a:t>CRM</a:t>
            </a:r>
            <a:r>
              <a:rPr sz="1150" b="0">
                <a:solidFill>
                  <a:srgbClr val="E2E8F0"/>
                </a:solidFill>
                <a:latin typeface="Segoe UI"/>
              </a:rPr>
              <a:t> ligado ao cadastro de empresas (venda assistida).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0">
                <a:solidFill>
                  <a:srgbClr val="E2E8F0"/>
                </a:solidFill>
                <a:latin typeface="Segoe UI"/>
              </a:rPr>
              <a:t>Pagamento MB Way/Ifthenpay com backoffice de pedidos.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D4BF"/>
                </a:solidFill>
                <a:latin typeface="Segoe UI"/>
              </a:rPr>
              <a:t>Custos e dependências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3611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0">
                <a:solidFill>
                  <a:srgbClr val="E2E8F0"/>
                </a:solidFill>
                <a:latin typeface="Segoe UI"/>
              </a:rPr>
              <a:t>Armazenamento e compute do cluster de busca.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1">
                <a:solidFill>
                  <a:srgbClr val="FFFFFF"/>
                </a:solidFill>
                <a:latin typeface="Segoe UI"/>
              </a:rPr>
              <a:t>2captcha</a:t>
            </a:r>
            <a:r>
              <a:rPr sz="1150" b="0">
                <a:solidFill>
                  <a:srgbClr val="E2E8F0"/>
                </a:solidFill>
                <a:latin typeface="Segoe UI"/>
              </a:rPr>
              <a:t> por entidade na recolha societária.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0">
                <a:solidFill>
                  <a:srgbClr val="E2E8F0"/>
                </a:solidFill>
                <a:latin typeface="Segoe UI"/>
              </a:rPr>
              <a:t>Tokens de LLM nos assistentes e agentes.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•  </a:t>
            </a:r>
            <a:r>
              <a:rPr sz="1150" b="0">
                <a:solidFill>
                  <a:srgbClr val="E2E8F0"/>
                </a:solidFill>
                <a:latin typeface="Segoe UI"/>
              </a:rPr>
              <a:t>Fontes públicas (BASE, PLACSP, DECP, MJ, INPI, GLEIF).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06440"/>
            <a:ext cx="11064240" cy="411480"/>
          </a:xfrm>
          <a:prstGeom prst="roundRect">
            <a:avLst/>
          </a:prstGeom>
          <a:solidFill>
            <a:srgbClr val="16223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Falta a camada recorrente: não há planos, limites, contagem de uso nem telemetria — a receita depende de pedidos manuais.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Catálogo e preços já praticados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Evidência de que a monetização foi pensada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6949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Relatório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Preço (€)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Preço de lista (€)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Prazo (dias)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Alvos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Relatório Corporativo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Relatório Financeiro Resumido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Relatório Financeiro Detalhado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Relatório Concorrência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130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73736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▪  </a:t>
            </a:r>
            <a:r>
              <a:rPr sz="1200" b="0">
                <a:solidFill>
                  <a:srgbClr val="E2E8F0"/>
                </a:solidFill>
                <a:latin typeface="Segoe UI"/>
              </a:rPr>
              <a:t>Intervalo </a:t>
            </a:r>
            <a:r>
              <a:rPr sz="1200" b="1">
                <a:solidFill>
                  <a:srgbClr val="FFFFFF"/>
                </a:solidFill>
                <a:latin typeface="Segoe UI"/>
              </a:rPr>
              <a:t>0.0–130.0 €</a:t>
            </a:r>
            <a:r>
              <a:rPr sz="1200" b="0">
                <a:solidFill>
                  <a:srgbClr val="E2E8F0"/>
                </a:solidFill>
                <a:latin typeface="Segoe UI"/>
              </a:rPr>
              <a:t> (média 43.0 €).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▪  </a:t>
            </a:r>
            <a:r>
              <a:rPr sz="1200" b="0">
                <a:solidFill>
                  <a:srgbClr val="E2E8F0"/>
                </a:solidFill>
                <a:latin typeface="Segoe UI"/>
              </a:rPr>
              <a:t>Os pacotes espelham o que o mercado de informação empresarial já vende — vantagem: preço de referência aceite; risco: comparação directa com incumbentes.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▪  </a:t>
            </a:r>
            <a:r>
              <a:rPr sz="1200" b="0">
                <a:solidFill>
                  <a:srgbClr val="E2E8F0"/>
                </a:solidFill>
                <a:latin typeface="Segoe UI"/>
              </a:rPr>
              <a:t>O </a:t>
            </a:r>
            <a:r>
              <a:rPr sz="1200" b="1">
                <a:solidFill>
                  <a:srgbClr val="FFFFFF"/>
                </a:solidFill>
                <a:latin typeface="Segoe UI"/>
              </a:rPr>
              <a:t>Relatório Concorrência</a:t>
            </a:r>
            <a:r>
              <a:rPr sz="1200" b="0">
                <a:solidFill>
                  <a:srgbClr val="E2E8F0"/>
                </a:solidFill>
                <a:latin typeface="Segoe UI"/>
              </a:rPr>
              <a:t> (130 €, até 6 empresas) é o produto de maior valor — é também o que exige dados financeiros que ainda faltam recolher.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▪  </a:t>
            </a:r>
            <a:r>
              <a:rPr sz="1200" b="1">
                <a:solidFill>
                  <a:srgbClr val="FFFFFF"/>
                </a:solidFill>
                <a:latin typeface="Segoe UI"/>
              </a:rPr>
              <a:t>Oportunidade imediata</a:t>
            </a:r>
            <a:r>
              <a:rPr sz="1200" b="0">
                <a:solidFill>
                  <a:srgbClr val="E2E8F0"/>
                </a:solidFill>
                <a:latin typeface="Segoe UI"/>
              </a:rPr>
              <a:t>: transformar pedidos manuais em subscrição com limites de uso.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Mercado: TAM, SAM e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Hipóteses explicitas — substituir por dados reais assim que houver vendas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10</a:t>
            </a:r>
          </a:p>
        </p:txBody>
      </p:sp>
      <p:pic>
        <p:nvPicPr>
          <p:cNvPr id="7" name="Picture 6" descr="05_cenarios_rec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294"/>
            <a:ext cx="5943600" cy="31466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084294"/>
            <a:ext cx="5943600" cy="3146611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20840" y="1737360"/>
          <a:ext cx="493775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528"/>
                <a:gridCol w="2731526"/>
                <a:gridCol w="1260704"/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Camada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Estimativa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TAM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Fornecedores do Estado no dataset (205 528) a 49 €/mês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≈ 121 M€/ano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SAM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5% com perfil de subscrição, PT+ES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≈ 6,0 M€/ano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SOM · ano 1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0,5% do SAM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≈ 30 mil €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SOM · ano 3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5% do SAM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≈ 302 mil €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20840" y="40233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▪  </a:t>
            </a:r>
            <a:r>
              <a:rPr sz="1150" b="0">
                <a:solidFill>
                  <a:srgbClr val="E2E8F0"/>
                </a:solidFill>
                <a:latin typeface="Segoe UI"/>
              </a:rPr>
              <a:t>Pressupostos: 49 €/mês (plano Profissional), 5% dos adjudicatários com perfil de subscrição.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▪  </a:t>
            </a:r>
            <a:r>
              <a:rPr sz="1150" b="1">
                <a:solidFill>
                  <a:srgbClr val="FFFFFF"/>
                </a:solidFill>
                <a:latin typeface="Segoe UI"/>
              </a:rPr>
              <a:t>Não inclui</a:t>
            </a:r>
            <a:r>
              <a:rPr sz="1150" b="0">
                <a:solidFill>
                  <a:srgbClr val="E2E8F0"/>
                </a:solidFill>
                <a:latin typeface="Segoe UI"/>
              </a:rPr>
              <a:t> API, relatórios avulsos, loja, formação nem serviços — que podem valer mais que a subscrição.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50">
                <a:solidFill>
                  <a:srgbClr val="2DD4BF"/>
                </a:solidFill>
              </a:rPr>
              <a:t>▪  </a:t>
            </a:r>
            <a:r>
              <a:rPr sz="1150" b="0">
                <a:solidFill>
                  <a:srgbClr val="E2E8F0"/>
                </a:solidFill>
                <a:latin typeface="Segoe UI"/>
              </a:rPr>
              <a:t>O SOM depende de </a:t>
            </a:r>
            <a:r>
              <a:rPr sz="1150" b="1">
                <a:solidFill>
                  <a:srgbClr val="FFFFFF"/>
                </a:solidFill>
                <a:latin typeface="Segoe UI"/>
              </a:rPr>
              <a:t>força de vendas</a:t>
            </a:r>
            <a:r>
              <a:rPr sz="1150" b="0">
                <a:solidFill>
                  <a:srgbClr val="E2E8F0"/>
                </a:solidFill>
                <a:latin typeface="Segoe UI"/>
              </a:rPr>
              <a:t>, não de produto: é o principal risco comercial.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Concorrência e diferenciação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Onde o IQ OS ganha e onde perde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176"/>
                <a:gridCol w="3144573"/>
                <a:gridCol w="512449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Alternativa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O que faz bem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DD4BF"/>
                          </a:solidFill>
                          <a:latin typeface="Segoe UI"/>
                        </a:rPr>
                        <a:t>Onde o IQ OS ganha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Portais públicos (BASE, PLACSP, DECP)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Fonte oficial, gratuita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Junta países, empresas, pessoas, risco e IA num só sítio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Informa D&amp;B, Iberinform, eInforma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Contas financeiras e notoriedade comercial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Contratação pública a fundo (15,5 M contratos) e respostas citadas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Agregadores de concursos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Alertas de novas licitações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Historial, concorrência e risco do adjudicatário, não só o anúncio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Ferramentas de BI genéricas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Flexíveis e conhecidas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Dados já tratados, prontos a responder sem projeto de dados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Chat IA genérico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Barato e familiar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Respostas com prova documental e audit trail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▪  </a:t>
            </a:r>
            <a:r>
              <a:rPr sz="1200" b="1">
                <a:solidFill>
                  <a:srgbClr val="FFFFFF"/>
                </a:solidFill>
                <a:latin typeface="Segoe UI"/>
              </a:rPr>
              <a:t>Diferencial defensável</a:t>
            </a:r>
            <a:r>
              <a:rPr sz="1200" b="0">
                <a:solidFill>
                  <a:srgbClr val="E2E8F0"/>
                </a:solidFill>
                <a:latin typeface="Segoe UI"/>
              </a:rPr>
              <a:t>: a junção por NIF entre contratos, societário, pessoas e risco — nenhum concorrente cobre as quatro camadas em Portugal.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▪  </a:t>
            </a:r>
            <a:r>
              <a:rPr sz="1200" b="1">
                <a:solidFill>
                  <a:srgbClr val="FFFFFF"/>
                </a:solidFill>
                <a:latin typeface="Segoe UI"/>
              </a:rPr>
              <a:t>Diferencial frágil</a:t>
            </a:r>
            <a:r>
              <a:rPr sz="1200" b="0">
                <a:solidFill>
                  <a:srgbClr val="E2E8F0"/>
                </a:solidFill>
                <a:latin typeface="Segoe UI"/>
              </a:rPr>
              <a:t>: a IA é replicável; o que não é replicável é o acervo e a cobertura.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Pontos fortes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Cada afirmação tem um número medido por trás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Ativo de dados próprio</a:t>
            </a:r>
            <a:r>
              <a:rPr sz="1350" b="0">
                <a:solidFill>
                  <a:srgbClr val="E2E8F0"/>
                </a:solidFill>
                <a:latin typeface="Segoe UI"/>
              </a:rPr>
              <a:t>: 37 967 981 documentos  31.38 GB  5 077 363 contratos e 199 mil M€.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Chave de junção única</a:t>
            </a:r>
            <a:r>
              <a:rPr sz="1350" b="0">
                <a:solidFill>
                  <a:srgbClr val="E2E8F0"/>
                </a:solidFill>
                <a:latin typeface="Segoe UI"/>
              </a:rPr>
              <a:t>: NIF liga contratos, empresas, pessoas, marcas, firmas, LEI e insolvências.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Amplitude funcional</a:t>
            </a:r>
            <a:r>
              <a:rPr sz="1350" b="0">
                <a:solidFill>
                  <a:srgbClr val="E2E8F0"/>
                </a:solidFill>
                <a:latin typeface="Segoe UI"/>
              </a:rPr>
              <a:t>: 859 rotas, 39 domínios — mais alavancas de receita do que qualquer concorrente local.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IA com prova</a:t>
            </a:r>
            <a:r>
              <a:rPr sz="1350" b="0">
                <a:solidFill>
                  <a:srgbClr val="E2E8F0"/>
                </a:solidFill>
                <a:latin typeface="Segoe UI"/>
              </a:rPr>
              <a:t>: citações, validação anti-alucinação e audit trail — o que torna a resposta utilizável em compras públicas.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Multi-país por desenho</a:t>
            </a:r>
            <a:r>
              <a:rPr sz="1350" b="0">
                <a:solidFill>
                  <a:srgbClr val="E2E8F0"/>
                </a:solidFill>
                <a:latin typeface="Segoe UI"/>
              </a:rPr>
              <a:t>: PT, ES e FR já no mesmo modelo de dados.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Custo marginal baixo</a:t>
            </a:r>
            <a:r>
              <a:rPr sz="1350" b="0">
                <a:solidFill>
                  <a:srgbClr val="E2E8F0"/>
                </a:solidFill>
                <a:latin typeface="Segoe UI"/>
              </a:rPr>
              <a:t>: servir mais um utilizador não exige nova recolha.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Operação a jusante pronta</a:t>
            </a:r>
            <a:r>
              <a:rPr sz="1350" b="0">
                <a:solidFill>
                  <a:srgbClr val="E2E8F0"/>
                </a:solidFill>
                <a:latin typeface="Segoe UI"/>
              </a:rPr>
              <a:t>: loja, pedidos, pagamentos e CRM já existem.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Pontos fracos e riscos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Ordenados por probabilidade ×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3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39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DD4BF"/>
                          </a:solidFill>
                          <a:latin typeface="Segoe UI"/>
                        </a:rPr>
                        <a:t>Risco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DD4BF"/>
                          </a:solidFill>
                          <a:latin typeface="Segoe UI"/>
                        </a:rPr>
                        <a:t>Prova de hoje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DD4BF"/>
                          </a:solidFill>
                          <a:latin typeface="Segoe UI"/>
                        </a:rPr>
                        <a:t>Impacto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Concentração em Portugal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91.99% das entidades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TAM pequeno para o investimento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Cobertura societária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0.02% das entidades com NIF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Relatórios financeiros prometidos não são entregáveis a escala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Cadastro incompleto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47.01% sem NIF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Entidades fora do grafo e da pesquisa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Dependência de terceiros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2captcha, proxies, portais públicos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Custo e interrupção fora de controlo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Sem telemetria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Sem contagem de uso/retensão/ARPU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Decisões de produto e preço às cegas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Dispersão de produto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39 domínios funcionais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Manutenção e mensagem confusa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RGPD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137 411 documentos de pessoas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Base legal, retenção e pedidos de titulares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Bus factor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Contexto técnico concentrado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Risco operacional grave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Nota global 3.6/5 — média de 8 dimensões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14</a:t>
            </a:r>
          </a:p>
        </p:txBody>
      </p:sp>
      <p:pic>
        <p:nvPicPr>
          <p:cNvPr id="7" name="Picture 6" descr="04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45720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51560" y="1554480"/>
            <a:ext cx="4572000" cy="457200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737360"/>
          <a:ext cx="3108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Dimensão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DD4BF"/>
                          </a:solidFill>
                          <a:latin typeface="Segoe UI"/>
                        </a:rPr>
                        <a:t>Nota</a:t>
                      </a:r>
                    </a:p>
                  </a:txBody>
                  <a:tcPr marL="45720" marR="45720" marT="18288" marB="18288">
                    <a:solidFill>
                      <a:srgbClr val="1E2B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Ativo de dados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Amplitude do produto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Profundidade de IA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4.5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Monetização pronta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Mercado endereçável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Consistência dos dados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2.0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Compliance e licenciamento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3.0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Prontidão comercial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2.5</a:t>
                      </a:r>
                    </a:p>
                  </a:txBody>
                  <a:tcPr marL="45720" marR="45720" marT="18288" marB="18288"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5532120"/>
            <a:ext cx="5120640" cy="640080"/>
          </a:xfrm>
          <a:prstGeom prst="roundRect">
            <a:avLst/>
          </a:prstGeom>
          <a:solidFill>
            <a:srgbClr val="16223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DD4BF"/>
                </a:solidFill>
                <a:latin typeface="Segoe UI"/>
              </a:rPr>
              <a:t>Leitura: os dados e o produto valem 5; o que trava é a cobertura, a medição e a operação comercial.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Plano de melhoria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Sequenciado por retorno: o que fazer a 30, 90 e 365 dias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4D399"/>
                </a:solidFill>
                <a:latin typeface="Segoe UI"/>
              </a:rPr>
              <a:t>30 dias — cobrar pelo que já existe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Três planos com limites (Explorador / Profissional / Empresa) e botão de subscrição.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Telemetria mínima: utilizadores ativos, pesquisas, relatórios, conversão.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Custo por pedido (LLM + captcha + storage) visível num painel.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Duas páginas de venda por caso de uso.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8BDF8"/>
                </a:solidFill>
                <a:latin typeface="Segoe UI"/>
              </a:rPr>
              <a:t>90 dias — fechar a cobertura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Recolha societária por </a:t>
            </a:r>
            <a:r>
              <a:rPr sz="1100" b="1">
                <a:solidFill>
                  <a:srgbClr val="FFFFFF"/>
                </a:solidFill>
                <a:latin typeface="Segoe UI"/>
              </a:rPr>
              <a:t>janelas de datas</a:t>
            </a:r>
            <a:r>
              <a:rPr sz="1100" b="0">
                <a:solidFill>
                  <a:srgbClr val="E2E8F0"/>
                </a:solidFill>
                <a:latin typeface="Segoe UI"/>
              </a:rPr>
              <a:t> (≈721 consultas cobrem o país desde 2007).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Deduplicação dos registos sem NIF (nome + morada + distrito).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Profundar ES/FR com importações por ano e métricas de cobertura no produto.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Base legal RGPD documentada para os dados de pessoas.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818CF8"/>
                </a:solidFill>
                <a:latin typeface="Segoe UI"/>
              </a:rPr>
              <a:t>365 dias — escalar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6596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API comercial com quotas e faturação de consumo.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Prontidão enterprise: SSO, isolamento por cliente, SLA, auditoria exportável.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Integrações (CRM dos clientes, Excel, Teams/Slack).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100">
                <a:solidFill>
                  <a:srgbClr val="2DD4BF"/>
                </a:solidFill>
              </a:rPr>
              <a:t>•  </a:t>
            </a:r>
            <a:r>
              <a:rPr sz="1100" b="0">
                <a:solidFill>
                  <a:srgbClr val="E2E8F0"/>
                </a:solidFill>
                <a:latin typeface="Segoe UI"/>
              </a:rPr>
              <a:t>Caso de estudo público com números medidos.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Económico, social e para o cliente — e como se mede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D4BF"/>
                </a:solidFill>
                <a:latin typeface="Segoe UI"/>
              </a:rPr>
              <a:t>Para o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Pesquisa de dias → minutos, com prova documental.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Menos propostas perdidas por informação incompleta.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Deteção precoce de fornecedores em risco.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D4BF"/>
                </a:solidFill>
                <a:latin typeface="Segoe UI"/>
              </a:rPr>
              <a:t>Económico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199 mil M€ de contratação analisável.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Mais concorrência = melhor preço para o Estado.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Empregos qualificados numa empresa de dados nacional.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D4BF"/>
                </a:solidFill>
                <a:latin typeface="Segoe UI"/>
              </a:rPr>
              <a:t>Social e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Transparência: contratos, relações e titulares de cargos acessíveis.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Igualdade de armas entre PMEs e grandes fornecedores.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200">
                <a:solidFill>
                  <a:srgbClr val="2DD4BF"/>
                </a:solidFill>
              </a:rPr>
              <a:t>•  </a:t>
            </a:r>
            <a:r>
              <a:rPr sz="1200" b="0">
                <a:solidFill>
                  <a:srgbClr val="E2E8F0"/>
                </a:solidFill>
                <a:latin typeface="Segoe UI"/>
              </a:rPr>
              <a:t>Auditoria e jornalismo com base factual citável.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16223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2E8F0"/>
                </a:solidFill>
                <a:latin typeface="Segoe UI"/>
              </a:rPr>
              <a:t>Métricas de sucesso a instrumentar já: horas poupadas por processo, nº de fornecedores identificados por concurso, receita recorrente, custo por resposta de IA e retenção mensal.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Decisões que faltam tomar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O produto está pronto; a empresa ainda não está configurada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Foco</a:t>
            </a:r>
            <a:r>
              <a:rPr sz="1350" b="0">
                <a:solidFill>
                  <a:srgbClr val="E2E8F0"/>
                </a:solidFill>
                <a:latin typeface="Segoe UI"/>
              </a:rPr>
              <a:t>: escolher 2 casos de uso âncora (fornecedor do Estado e risco de contraparte) e dizer não ao resto.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Preço</a:t>
            </a:r>
            <a:r>
              <a:rPr sz="1350" b="0">
                <a:solidFill>
                  <a:srgbClr val="E2E8F0"/>
                </a:solidFill>
                <a:latin typeface="Segoe UI"/>
              </a:rPr>
              <a:t>: fixar planos e limites; matar a dependência de pedidos manuais.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Medição</a:t>
            </a:r>
            <a:r>
              <a:rPr sz="1350" b="0">
                <a:solidFill>
                  <a:srgbClr val="E2E8F0"/>
                </a:solidFill>
                <a:latin typeface="Segoe UI"/>
              </a:rPr>
              <a:t>: instrumentar o produto antes de vender, para saber o que funciona.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Cobertura</a:t>
            </a:r>
            <a:r>
              <a:rPr sz="1350" b="0">
                <a:solidFill>
                  <a:srgbClr val="E2E8F0"/>
                </a:solidFill>
                <a:latin typeface="Segoe UI"/>
              </a:rPr>
              <a:t>: decidir se se investe em societário/financeiro (custoso) ou se se vende só o que já existe.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Internacionalização</a:t>
            </a:r>
            <a:r>
              <a:rPr sz="1350" b="0">
                <a:solidFill>
                  <a:srgbClr val="E2E8F0"/>
                </a:solidFill>
                <a:latin typeface="Segoe UI"/>
              </a:rPr>
              <a:t>: Espanha antes de França; França só com parceiro local.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50">
                <a:solidFill>
                  <a:srgbClr val="2DD4BF"/>
                </a:solidFill>
              </a:rPr>
              <a:t>▪  </a:t>
            </a:r>
            <a:r>
              <a:rPr sz="1350" b="1">
                <a:solidFill>
                  <a:srgbClr val="FFFFFF"/>
                </a:solidFill>
                <a:latin typeface="Segoe UI"/>
              </a:rPr>
              <a:t>Risco jurídico</a:t>
            </a:r>
            <a:r>
              <a:rPr sz="1350" b="0">
                <a:solidFill>
                  <a:srgbClr val="E2E8F0"/>
                </a:solidFill>
                <a:latin typeface="Segoe UI"/>
              </a:rPr>
              <a:t>: contrato de utilização, RGPD e política de fontes escrita.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60720"/>
            <a:ext cx="10972800" cy="457200"/>
          </a:xfrm>
          <a:prstGeom prst="roundRect">
            <a:avLst/>
          </a:prstGeom>
          <a:solidFill>
            <a:srgbClr val="16223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BF"/>
                </a:solidFill>
                <a:latin typeface="Segoe UI"/>
              </a:rPr>
              <a:t>Próximo passo sugerido: 30 dias a empacotar preço e a medir uso — sem tocar no produto.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2E8F0"/>
                </a:solidFill>
                <a:latin typeface="Segoe UI"/>
              </a:rPr>
              <a:t>Como estes números foram obtidos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Reprodutível: qualquer pessoa pode correr os 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Segoe UI"/>
              </a:rPr>
              <a:t>IQ OS · análise de negócio ·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00">
                <a:solidFill>
                  <a:srgbClr val="2DD4BF"/>
                </a:solidFill>
              </a:rPr>
              <a:t>▪  </a:t>
            </a:r>
            <a:r>
              <a:rPr sz="1300" b="1">
                <a:solidFill>
                  <a:srgbClr val="FFFFFF"/>
                </a:solidFill>
                <a:latin typeface="Segoe UI"/>
              </a:rPr>
              <a:t>Recolha automática</a:t>
            </a:r>
            <a:r>
              <a:rPr sz="1300" b="0">
                <a:solidFill>
                  <a:srgbClr val="E2E8F0"/>
                </a:solidFill>
                <a:latin typeface="Segoe UI"/>
              </a:rPr>
              <a:t> (`logs/_analise_negocio_iqos.py`) contra a API em execução, com sessão de serviço; cada valor guarda o endpoint de origem.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00">
                <a:solidFill>
                  <a:srgbClr val="2DD4BF"/>
                </a:solidFill>
              </a:rPr>
              <a:t>▪  </a:t>
            </a:r>
            <a:r>
              <a:rPr sz="1300" b="1">
                <a:solidFill>
                  <a:srgbClr val="FFFFFF"/>
                </a:solidFill>
                <a:latin typeface="Segoe UI"/>
              </a:rPr>
              <a:t>Índices e volumetria</a:t>
            </a:r>
            <a:r>
              <a:rPr sz="1300" b="0">
                <a:solidFill>
                  <a:srgbClr val="E2E8F0"/>
                </a:solidFill>
                <a:latin typeface="Segoe UI"/>
              </a:rPr>
              <a:t> de `/elastic/indices`: 43 índices, 31.38 GB.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00">
                <a:solidFill>
                  <a:srgbClr val="2DD4BF"/>
                </a:solidFill>
              </a:rPr>
              <a:t>▪  </a:t>
            </a:r>
            <a:r>
              <a:rPr sz="1300" b="1">
                <a:solidFill>
                  <a:srgbClr val="FFFFFF"/>
                </a:solidFill>
                <a:latin typeface="Segoe UI"/>
              </a:rPr>
              <a:t>Preços</a:t>
            </a:r>
            <a:r>
              <a:rPr sz="1300" b="0">
                <a:solidFill>
                  <a:srgbClr val="E2E8F0"/>
                </a:solidFill>
                <a:latin typeface="Segoe UI"/>
              </a:rPr>
              <a:t> do catálogo de relatórios (`/reports/catalogue`) — não de tabelas de marketing.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00">
                <a:solidFill>
                  <a:srgbClr val="2DD4BF"/>
                </a:solidFill>
              </a:rPr>
              <a:t>▪  </a:t>
            </a:r>
            <a:r>
              <a:rPr sz="1300" b="1">
                <a:solidFill>
                  <a:srgbClr val="FFFFFF"/>
                </a:solidFill>
                <a:latin typeface="Segoe UI"/>
              </a:rPr>
              <a:t>Ecrãs</a:t>
            </a:r>
            <a:r>
              <a:rPr sz="1300" b="0">
                <a:solidFill>
                  <a:srgbClr val="E2E8F0"/>
                </a:solidFill>
                <a:latin typeface="Segoe UI"/>
              </a:rPr>
              <a:t> capturados da aplicação real (`logs/_capturar_ecras_iqos.py`).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00">
                <a:solidFill>
                  <a:srgbClr val="2DD4BF"/>
                </a:solidFill>
              </a:rPr>
              <a:t>▪  </a:t>
            </a:r>
            <a:r>
              <a:rPr sz="1300" b="1">
                <a:solidFill>
                  <a:srgbClr val="FFFFFF"/>
                </a:solidFill>
                <a:latin typeface="Segoe UI"/>
              </a:rPr>
              <a:t>Não medido</a:t>
            </a:r>
            <a:r>
              <a:rPr sz="1300" b="0">
                <a:solidFill>
                  <a:srgbClr val="E2E8F0"/>
                </a:solidFill>
                <a:latin typeface="Segoe UI"/>
              </a:rPr>
              <a:t> (declarado como tal): relatorios_admin, relatorios_definicoes.</a:t>
            </a:r>
          </a:p>
          <a:p>
            <a:pPr>
              <a:lnSpc>
                <a:spcPct val="110000"/>
              </a:lnSpc>
              <a:spcAft>
                <a:spcPts val="616"/>
              </a:spcAft>
            </a:pPr>
            <a:r>
              <a:rPr sz="1300">
                <a:solidFill>
                  <a:srgbClr val="2DD4BF"/>
                </a:solidFill>
              </a:rPr>
              <a:t>▪  </a:t>
            </a:r>
            <a:r>
              <a:rPr sz="1300" b="1">
                <a:solidFill>
                  <a:srgbClr val="FFFFFF"/>
                </a:solidFill>
                <a:latin typeface="Segoe UI"/>
              </a:rPr>
              <a:t>Assume-se</a:t>
            </a:r>
            <a:r>
              <a:rPr sz="1300" b="0">
                <a:solidFill>
                  <a:srgbClr val="E2E8F0"/>
                </a:solidFill>
                <a:latin typeface="Segoe UI"/>
              </a:rPr>
              <a:t> (e está marcado nos diapositivos): TAM/SAM/SOM, preço de 49 €/mês e taxas de conversão.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BBF24"/>
                </a:solidFill>
                <a:latin typeface="Segoe UI"/>
              </a:rPr>
              <a:t>Sem telemetria de produto, qualquer número de clientes, retenção ou receita seria ficção — por isso não aparece nenhum.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